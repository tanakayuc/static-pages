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C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パーフェクト育脳　3日間ライブ　Day1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なぜ、頑張っているのに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育ちにくいのか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ピグマリオン恵美子 × 吉田早惠子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教育のために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ストロー練習をしているなら、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今すぐやめてください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ストローの間、舌は上がりにくい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口を閉じたとき、舌は上顎にぴたっとつくのが理想の位置。ストローがあると舌は下にいき、動かす経験が少なくなる（早惠子先生の考え）。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縦抱き・早すぎるお座り・バウンサー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よかれと思った道具が、赤ちゃんが自分で通るはずだった道を、先に通り過ぎてしまうことがある。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7C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できるママほど、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赤ちゃんの才能を潰している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3日間の地図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49936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Day1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2133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頑張っているのに育ちにくい、本当の原因を見つける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22320" y="1371600"/>
            <a:ext cx="249936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05200" y="150876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Day2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05200" y="2240280"/>
            <a:ext cx="2133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わが子で一つ試す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6000" y="1371600"/>
            <a:ext cx="249936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8880" y="150876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Day3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278880" y="2240280"/>
            <a:ext cx="2133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ママ自身が変わる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35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ルールは一つ。気づいたことを一行書く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なぜ、詳しいママほど知らないのか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49936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一般論の情報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2133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「わが子に合うか」の視点がないまま取り入れてしまう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22320" y="1371600"/>
            <a:ext cx="249936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05200" y="150876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引き継がれない知恵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05200" y="2240280"/>
            <a:ext cx="2133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昔は身近にいた人から当たり前に伝わっていた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6000" y="1371600"/>
            <a:ext cx="249936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8880" y="150876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あえて言わない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278880" y="2240280"/>
            <a:ext cx="2133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支援する側は、不安をあおらないよう言わない選択をする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脳は2階建て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8620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1階　0〜3歳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体と感覚の脳。動く、触る、見る、バランスをとる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88620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5087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2階　3歳〜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240280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考える、覚える、言葉で学ぶ脳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35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1階の柱が細いまま2階を積んでも、伸びにくい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足すより先に、順番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良い教材・良い教室を足しても手応えがないなら、足すものではなく順番が逆なのかもしれない。1階の工事の現場は、毎日の暮らし。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7C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本当の原因は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「できすぎる」こと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先を読んで、準備して、困らないようにしてあげられる。お世話好きで、テキパキ動ける。だからこそ、サポートが多くなりすぎる。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先回り型の支柱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49936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先回りしすぎ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2133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転ばないように、困らないように、全部先回り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22320" y="1371600"/>
            <a:ext cx="249936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05200" y="150876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整えすぎ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05200" y="2240280"/>
            <a:ext cx="2133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失敗しないように、環境を固める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6000" y="1371600"/>
            <a:ext cx="249936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8880" y="150876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やってあげすぎ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278880" y="2240280"/>
            <a:ext cx="2133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できる前に、大人がやってしまう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35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子どもは「試す・失敗・調整」の経験を失っていく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「困らせないのが、いいママ」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という思い込み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やり方の問題に見えて、実は考え方の問題。根っこが同じなら、知識を足してもお世話の量は変わらない。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本来の支柱は、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「自分で立とう」とする力を支える人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倒れないように固定する人ではない。守ることと、感じさせること。そのバランスがいちばん大事。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先生も「できるママ」だった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子育ても簡単にできると思っていた。敏感な上の娘さんの子育てでぶつかった壁から、発達心理や脳を片っ端から学び、「これが良くなかった」と気づいた。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小さなサインに気づけば、変わる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8620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5か月の男の子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ずり這いで左足が伸びっぱなし。その子に合う遊びで、2週間後には左足でも床を蹴れるように（個人差あり）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88620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5087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2歳の男の子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240280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「じっとしていられない」。体の使い方と夢中を見てパズルを提案。10ピースから100ピースへ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AIの時代に、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わが子に残したい力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自分で考えて、自分で動けること。その土台の器を広げられるのは、0〜2歳のいちばん近くにいるママ。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わが子は、正しい順番で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全部をまんべんなく育てられている？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できたことは目に見える。抜けたところ、使われないまま進んだところは見えない。赤ちゃんの育ちには凸凹が出る。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6459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成長ロードマップ　12のテーマ × 月齢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18488" y="713232"/>
            <a:ext cx="2386584" cy="246888"/>
          </a:xfrm>
          <a:prstGeom prst="rect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00200" y="71323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0歳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041648" y="713232"/>
            <a:ext cx="2386584" cy="246888"/>
          </a:xfrm>
          <a:prstGeom prst="rect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23360" y="71323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1歳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64808" y="713232"/>
            <a:ext cx="2386584" cy="246888"/>
          </a:xfrm>
          <a:prstGeom prst="rect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71323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2歳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978408"/>
            <a:ext cx="6057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0-3か月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2205990" y="978408"/>
            <a:ext cx="6057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3-6か月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811780" y="978408"/>
            <a:ext cx="6057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6-9か月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3417570" y="978408"/>
            <a:ext cx="6057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9-12か月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978408"/>
            <a:ext cx="6057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0-3か月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4629150" y="978408"/>
            <a:ext cx="6057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3-6か月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5234940" y="978408"/>
            <a:ext cx="6057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6-9か月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5840730" y="978408"/>
            <a:ext cx="6057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9-12か月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978408"/>
            <a:ext cx="6057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0-3か月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7052310" y="978408"/>
            <a:ext cx="6057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3-6か月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7658100" y="978408"/>
            <a:ext cx="6057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6-9か月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8263890" y="978408"/>
            <a:ext cx="6057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9-12か月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" y="1252728"/>
            <a:ext cx="128016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体の動き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627632" y="128016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33422" y="128016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9212" y="128016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45002" y="128016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50792" y="128016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56582" y="128016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62372" y="128016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68162" y="128016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73952" y="128016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79742" y="128016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5532" y="128016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91322" y="128016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74320" y="1529334"/>
            <a:ext cx="128016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触覚（肌）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627632" y="155676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33422" y="155676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39212" y="155676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45002" y="155676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50792" y="155676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56582" y="155676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62372" y="155676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68162" y="155676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73952" y="155676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79742" y="155676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85532" y="155676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91322" y="155676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74320" y="1805940"/>
            <a:ext cx="128016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呼吸と口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627632" y="183337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33422" y="183337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839212" y="183337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45002" y="183337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050792" y="183337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56582" y="183337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62372" y="183337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68162" y="183337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73952" y="183337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79742" y="183337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685532" y="183337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91322" y="183337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74320" y="2082546"/>
            <a:ext cx="128016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聞く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627632" y="210997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33422" y="210997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839212" y="210997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445002" y="210997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050792" y="210997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656582" y="210997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262372" y="210997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68162" y="210997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73952" y="210997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079742" y="210997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685532" y="210997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291322" y="210997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274320" y="2359152"/>
            <a:ext cx="128016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見る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627632" y="238658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233422" y="238658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39212" y="238658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445002" y="238658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050792" y="238658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656582" y="238658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262372" y="238658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68162" y="238658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473952" y="238658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079742" y="238658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685532" y="238658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291322" y="238658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274320" y="2635758"/>
            <a:ext cx="128016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傾き・力加減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1627632" y="266319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233422" y="266319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839212" y="266319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445002" y="266319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050792" y="266319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656582" y="266319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262372" y="266319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868162" y="266319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73952" y="266319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079742" y="266319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685532" y="266319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291322" y="266319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274320" y="2912364"/>
            <a:ext cx="128016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手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1627632" y="293979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233422" y="293979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839212" y="293979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445002" y="293979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050792" y="293979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656582" y="293979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262372" y="293979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868162" y="293979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473952" y="293979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079742" y="293979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685532" y="293979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291322" y="293979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274320" y="3188970"/>
            <a:ext cx="128016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足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1627632" y="321640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233422" y="321640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839212" y="321640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445002" y="321640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050792" y="321640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656582" y="321640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262372" y="321640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868162" y="321640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473952" y="321640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079742" y="321640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685532" y="321640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291322" y="321640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D5EC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274320" y="3465576"/>
            <a:ext cx="128016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言葉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1627632" y="349300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233422" y="349300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839212" y="349300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445002" y="349300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050792" y="349300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656582" y="349300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262372" y="349300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868162" y="349300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473952" y="349300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079742" y="349300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685532" y="349300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291322" y="3493008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274320" y="3742182"/>
            <a:ext cx="128016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抱っこ・おんぶ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1627632" y="376961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233422" y="376961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839212" y="376961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445002" y="376961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050792" y="376961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656582" y="376961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262372" y="376961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868162" y="376961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473952" y="376961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079742" y="376961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685532" y="376961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291322" y="376961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274320" y="4018788"/>
            <a:ext cx="128016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人とのやりとり</a:t>
            </a:r>
            <a:endParaRPr lang="en-US" sz="950" dirty="0"/>
          </a:p>
        </p:txBody>
      </p:sp>
      <p:sp>
        <p:nvSpPr>
          <p:cNvPr id="153" name="Shape 151"/>
          <p:cNvSpPr/>
          <p:nvPr/>
        </p:nvSpPr>
        <p:spPr>
          <a:xfrm>
            <a:off x="1627632" y="404622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2233422" y="404622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2839212" y="404622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445002" y="404622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050792" y="404622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656582" y="404622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262372" y="404622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868162" y="404622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473952" y="404622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079742" y="404622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685532" y="404622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291322" y="404622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274320" y="4295394"/>
            <a:ext cx="128016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睡眠</a:t>
            </a:r>
            <a:endParaRPr lang="en-US" sz="950" dirty="0"/>
          </a:p>
        </p:txBody>
      </p:sp>
      <p:sp>
        <p:nvSpPr>
          <p:cNvPr id="166" name="Shape 164"/>
          <p:cNvSpPr/>
          <p:nvPr/>
        </p:nvSpPr>
        <p:spPr>
          <a:xfrm>
            <a:off x="1627632" y="432282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233422" y="432282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839212" y="432282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445002" y="432282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050792" y="432282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656582" y="432282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5262372" y="432282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868162" y="432282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473952" y="432282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7079742" y="432282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7685532" y="432282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291322" y="432282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AF5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627632" y="128016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1600200" y="1252728"/>
            <a:ext cx="60579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床で動く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1627632" y="376961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1600200" y="3742182"/>
            <a:ext cx="60579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横抱き</a:t>
            </a:r>
            <a:endParaRPr lang="en-US" sz="700" dirty="0"/>
          </a:p>
        </p:txBody>
      </p:sp>
      <p:sp>
        <p:nvSpPr>
          <p:cNvPr id="182" name="Shape 180"/>
          <p:cNvSpPr/>
          <p:nvPr/>
        </p:nvSpPr>
        <p:spPr>
          <a:xfrm>
            <a:off x="2233422" y="3769614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183" name="Text 181"/>
          <p:cNvSpPr txBox="1"/>
          <p:nvPr/>
        </p:nvSpPr>
        <p:spPr>
          <a:xfrm>
            <a:off x="2205990" y="3742182"/>
            <a:ext cx="60579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横抱き</a:t>
            </a:r>
            <a:endParaRPr lang="en-US" sz="700" dirty="0"/>
          </a:p>
        </p:txBody>
      </p:sp>
      <p:sp>
        <p:nvSpPr>
          <p:cNvPr id="184" name="Shape 182"/>
          <p:cNvSpPr/>
          <p:nvPr/>
        </p:nvSpPr>
        <p:spPr>
          <a:xfrm>
            <a:off x="2233422" y="1280160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2205990" y="1252728"/>
            <a:ext cx="60579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座らせない</a:t>
            </a:r>
            <a:endParaRPr lang="en-US" sz="700" dirty="0"/>
          </a:p>
        </p:txBody>
      </p:sp>
      <p:sp>
        <p:nvSpPr>
          <p:cNvPr id="186" name="Shape 184"/>
          <p:cNvSpPr/>
          <p:nvPr/>
        </p:nvSpPr>
        <p:spPr>
          <a:xfrm>
            <a:off x="2233422" y="321640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187" name="Text 185"/>
          <p:cNvSpPr txBox="1"/>
          <p:nvPr/>
        </p:nvSpPr>
        <p:spPr>
          <a:xfrm>
            <a:off x="2205990" y="3188970"/>
            <a:ext cx="60579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左足</a:t>
            </a:r>
            <a:endParaRPr lang="en-US" sz="700" dirty="0"/>
          </a:p>
        </p:txBody>
      </p:sp>
      <p:sp>
        <p:nvSpPr>
          <p:cNvPr id="188" name="Shape 186"/>
          <p:cNvSpPr/>
          <p:nvPr/>
        </p:nvSpPr>
        <p:spPr>
          <a:xfrm>
            <a:off x="4050792" y="1833372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4023360" y="1805940"/>
            <a:ext cx="60579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コップ</a:t>
            </a:r>
            <a:endParaRPr lang="en-US" sz="700" dirty="0"/>
          </a:p>
        </p:txBody>
      </p:sp>
      <p:sp>
        <p:nvSpPr>
          <p:cNvPr id="190" name="Shape 188"/>
          <p:cNvSpPr/>
          <p:nvPr/>
        </p:nvSpPr>
        <p:spPr>
          <a:xfrm>
            <a:off x="6473952" y="2939796"/>
            <a:ext cx="550926" cy="221742"/>
          </a:xfrm>
          <a:prstGeom prst="roundRect">
            <a:avLst>
              <a:gd name="adj" fmla="val 16495"/>
            </a:avLst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6446520" y="2912364"/>
            <a:ext cx="60579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パズル</a:t>
            </a:r>
            <a:endParaRPr lang="en-US" sz="700" dirty="0"/>
          </a:p>
        </p:txBody>
      </p:sp>
      <p:sp>
        <p:nvSpPr>
          <p:cNvPr id="192" name="Text 190"/>
          <p:cNvSpPr txBox="1"/>
          <p:nvPr/>
        </p:nvSpPr>
        <p:spPr>
          <a:xfrm>
            <a:off x="274320" y="4645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オレンジ＝今日お話しした例　｜　太字のテーマ＝体と運動の土台　｜　イメージ：段階の区切りと各マスの中身は先生と確定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1マスの中に、二つのことがある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94560" y="114300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11430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この時期に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やってはいけないこと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0" y="114300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0" y="11430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この時期にやると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さらに育つこと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呼吸と口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94560" y="201168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FCEAE5"/>
          </a:solidFill>
          <a:ln w="12700">
            <a:solidFill>
              <a:srgbClr val="FCEA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20116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教育のためのストロー練習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0" y="201168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77840" y="20116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お家でコップ・マグで飲む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8346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抱っこ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194560" y="283464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FCEAE5"/>
          </a:solidFill>
          <a:ln w="12700">
            <a:solidFill>
              <a:srgbClr val="FCEA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86000" y="28346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早いうちの縦抱き／腰がすわる前のお座り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0" y="283464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28346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4〜5か月までは横抱き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6576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体の動き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194560" y="365760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FCEAE5"/>
          </a:solidFill>
          <a:ln w="12700">
            <a:solidFill>
              <a:srgbClr val="FCEA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0" y="36576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バウンサーに乗せたまま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0" y="365760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77840" y="36576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床の上でじたばたする時間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運動の土台が大きいほど、上に知性を大きく乗せられる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017520" y="132588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EAF5F5"/>
          </a:solidFill>
          <a:ln w="19050">
            <a:solidFill>
              <a:srgbClr val="0F7C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017520" y="13258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2階　知性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考える・覚える・言葉で学ぶ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7315200" cy="1280160"/>
          </a:xfrm>
          <a:prstGeom prst="roundRect">
            <a:avLst>
              <a:gd name="adj" fmla="val 7143"/>
            </a:avLst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688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1階　体と感覚の土台（0〜3歳）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体の動き・触覚・傾きと力加減・手・足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35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字を書く、授業を聞く、集中する力も、まず自分の体を使いこなせることが土台になる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地図があっても、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ママのOSが古いままだと動かない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AIに「もっとできることは？」と聞き続ける。それは赤ちゃんの課題を、ママが先回りして解決しているのと同じ。道具が新しくなっただけで、お世話好きママのまま。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お受験の例え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8620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短い時間軸のOS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合格が目的になる。そのために先回りして、やらせて、整える。「お受験こそがすべて」に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88620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5087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育脳のOS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240280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この子が10年後、20年後にどうなっていてほしいか。そこから逆算して、今日の一手を決める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35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今日のストロー一本、抱っこ一回も、長い時間軸で見ると意味が変わる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パーフェクト育脳で大切な三つ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49936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 ロードマップ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2133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12のテーマを月齢ごとに、何をして何をしないかを知る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22320" y="1371600"/>
            <a:ext cx="249936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05200" y="150876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 その子に合わせる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05200" y="2240280"/>
            <a:ext cx="2133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わが子が今どのマスにいて、何に夢中かを見る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6000" y="1371600"/>
            <a:ext cx="249936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8880" y="150876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 育脳のOS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78880" y="2240280"/>
            <a:ext cx="2133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目の前ではなく、将来から逆算して判断する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35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どれかが欠けると、テクニックを足しても断片的になる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ロードマップの進め方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49936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　引く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2133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その時期にやってはいけないことを外す。できすぎているお世話を一つ引く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22320" y="1371600"/>
            <a:ext cx="249936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05200" y="150876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　見る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05200" y="2240280"/>
            <a:ext cx="2133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わが子が何をしたかを見る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6000" y="1371600"/>
            <a:ext cx="249936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8880" y="150876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　足す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278880" y="2240280"/>
            <a:ext cx="2133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その時期にやるとさらに育つことを、その子に合わせて足す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7C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溺愛ママ・お世話好きママから、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パーフェクト育脳ママへ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愛情を減らすのではなく、愛情の向け方を変える。地図を持って、一つ引いて、わが子を見て、ここぞの一手を出せるママ。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今日の課題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8620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わが家の「できすぎ」を一つ書く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886200" cy="2377440"/>
          </a:xfrm>
          <a:prstGeom prst="roundRect">
            <a:avLst>
              <a:gd name="adj" fmla="val 4615"/>
            </a:avLst>
          </a:prstGeom>
          <a:solidFill>
            <a:srgbClr val="EAF5F5"/>
          </a:solidFill>
          <a:ln w="12700">
            <a:solidFill>
              <a:srgbClr val="EAF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5087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240280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明日、一つ引いてみることを書く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35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明日のDay2は、わが子で実際に一つ試す日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2026-10-30T10:35:12Z</dcterms:created>
  <dcterms:modified xsi:type="dcterms:W3CDTF">2026-10-30T10:35:12Z</dcterms:modified>
</cp:coreProperties>
</file>