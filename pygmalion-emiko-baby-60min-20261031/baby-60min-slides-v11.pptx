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表紙（動画には使わない）。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パート1。冒頭の問い。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パート1。常識の破壊。宮島先生の発言は先方確認①。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パート1。責める印象にしない。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パート1。パーフェクト育脳の約束。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パート2。撮影素材。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パート3。本の年齢の区切りは載せない（田中さん決定）。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パート3。成田さんの図とは分ける。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パート4。学会の案内に合わせた言い方（先方確認⑤）。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パート4。早惠子先生の見立てとして。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パート5。他の教室名・教材は出さない。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パート5。先方確認⑦。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パート11。先生の事例（過去ライブで話した事例）。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パート11。先方確認⑭⑮⑯。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パート12。12の感覚スイッチ＝ロードマップの12（田中さん決定）。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パート12。先方確認⑰（マスの中身は先生と確認）。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パート13。他の教室名は出さない。田中さん決定。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パート14。答える間、画面に出しておく。先方確認⑱。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パート14。先方確認⑱。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パート15。講座の写真は先方から。先方確認⑲⑳。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台本v11 パート15。申込方法は田中さん決定。条件は先方確認㉑。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C9B7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パーフェクト育脳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パーフェクト育脳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6270"/>
                </a:solidFill>
              </a:rPr>
              <a:t>ベビー60分動画　差し込みスライド（台本v11）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270"/>
                </a:solidFill>
              </a:rPr>
              <a:t>文字はすべて編集できます。絵の差し替えは「差し込み画像_v11」フォルダの同じ名前の画像で行えます。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11247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子どもへの最高のプレゼントって、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何だと思いますか？</a:t>
            </a: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教育のためのストロー練習、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今すぐやめてください。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480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62828"/>
                </a:solidFill>
              </a:rPr>
              <a:t>「6歳までは、ストローを使わないでほしい」　矯正歯科　宮島先生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03_よかれと思ったお世話の4場面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554736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よかれと思ったお世話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5669280"/>
            <a:ext cx="2727884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ストロー練習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3276524" y="5669280"/>
            <a:ext cx="2727884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抱っこ紐で長く過ごす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187288" y="5669280"/>
            <a:ext cx="2727884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腰がすわる前のお座り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9098051" y="5669280"/>
            <a:ext cx="2727884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バウンサー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04_パーフェクト育脳の全体図_案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3145" y="3840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引く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183145" y="1188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6270"/>
                </a:solidFill>
              </a:rPr>
              <a:t>頑張りすぎた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5A6270"/>
                </a:solidFill>
              </a:rPr>
              <a:t>お世話を一つ外す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4167670" y="3840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入れる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4167670" y="1188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6270"/>
                </a:solidFill>
              </a:rPr>
              <a:t>12の感覚スイッチに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5A6270"/>
                </a:solidFill>
              </a:rPr>
              <a:t>一つずつ刺激を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144258" y="3840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ぐんぐん育つ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8144258" y="1188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6270"/>
                </a:solidFill>
              </a:rPr>
              <a:t>体も、心も、頭も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5A6270"/>
                </a:solidFill>
              </a:rPr>
              <a:t>自分から伸びていく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270248" y="18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2828"/>
                </a:solidFill>
              </a:rPr>
              <a:t>パーフェクト育脳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ピグマリオンプレイス（東京都杉並区）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B79C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1097280" y="31089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6270"/>
                </a:solidFill>
              </a:rPr>
              <a:t>撮影素材を入れる位置：外観・室内（撮影当日に撮る）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06_3階建ての脳の家_案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32004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脳は、3階建て。</a:t>
            </a:r>
            <a:endParaRPr lang="en-US" sz="5000" dirty="0"/>
          </a:p>
          <a:p>
            <a:pPr indent="0" marL="0">
              <a:buNone/>
            </a:pPr>
            <a:r>
              <a:rPr lang="en-US" sz="2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下から順番に積み上がる。</a:t>
            </a:r>
            <a:endParaRPr lang="en-US" sz="5000" dirty="0"/>
          </a:p>
        </p:txBody>
      </p:sp>
      <p:sp>
        <p:nvSpPr>
          <p:cNvPr id="5" name="Text 1"/>
          <p:cNvSpPr txBox="1"/>
          <p:nvPr/>
        </p:nvSpPr>
        <p:spPr>
          <a:xfrm>
            <a:off x="3108960" y="210312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3階　こころの脳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2377440" y="32004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2階　おりこうさんの脳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3108960" y="4800600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1階　からだの脳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2194560" y="546811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0〜2歳が、とても重要な時期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4739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成田奈緒子『高学歴親という病』（講談社＋α新書）の考え方をもとに作図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07_ベビーとキッズの2人で逆算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1021080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3歳から先まで見てきた2人で、逆算する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ベビー（0〜2歳）　からだの1階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6187288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キッズ（3〜8歳）　その上に知性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4739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ピグマリオンの講座の対象年齢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08_足し算の育脳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7490460" cy="1371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足し算の育脳</a:t>
            </a:r>
            <a:endParaRPr lang="en-US" sz="4000" dirty="0"/>
          </a:p>
          <a:p>
            <a:pPr indent="0" marL="0">
              <a:buNone/>
            </a:pPr>
            <a:r>
              <a:rPr lang="en-US" sz="22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1階の工事が進む前に、2階の材料を運んでいませんか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09_舌の位置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243840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舌の位置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口を閉じたとき　上顎にぴたっと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6187288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ストローのとき　舌が下がる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10_ストローで顎を押す力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8630412" cy="1371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ストローで吸うと</a:t>
            </a:r>
            <a:endParaRPr lang="en-US" sz="4000" dirty="0"/>
          </a:p>
          <a:p>
            <a:pPr indent="0" marL="0">
              <a:buNone/>
            </a:pPr>
            <a:r>
              <a:rPr lang="en-US" sz="22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ほっぺたが顎を内側に押す。外へ広がるはずの顎に、逆向きの力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64739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矯正歯科　宮島先生の考えとして（早惠子先生の説明）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11_抱っこ紐の正しい形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606552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抱っこ紐は、使っていい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頭を支えて、脚はM字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6187288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そのぶん、床の時間をつくる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4739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日本整形外科学会・日本小児整形外科学会の股関節脱臼予防の案内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12_抱っこ紐の悪循環_案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480560" y="29260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抱っこ紐で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長く過ごすと…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137160" y="13716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ママの顔を見ようと、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体をねじる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7223760" y="3977640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うつ伏せで、手足が床から浮く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4206240" y="617220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前に行きたいのに、進めない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580644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泣く。ママも疲れる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床の時間の目安（WHO）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400" dirty="0">
                <a:solidFill>
                  <a:srgbClr val="1B2A4A"/>
                </a:solidFill>
              </a:rPr>
              <a:t>起きている時間に、合計30分以上の腹ばい</a:t>
            </a:r>
            <a:endParaRPr lang="en-US" sz="3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400" dirty="0">
                <a:solidFill>
                  <a:srgbClr val="1B2A4A"/>
                </a:solidFill>
              </a:rPr>
              <a:t>椅子やベビーカーに入れたままにするのは、1回1時間まで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62828"/>
                </a:solidFill>
              </a:rPr>
              <a:t>対象：1歳未満で、まだ動き回れない赤ちゃん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出典：世界保健機関（WHO）2019年4月24日の発表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14_3つのスイッチが光る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865632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どれも、12の感覚スイッチの一つ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566928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ストロー ＝ 呼吸と口</a:t>
            </a:r>
            <a:endParaRPr lang="en-US" sz="2100" dirty="0"/>
          </a:p>
        </p:txBody>
      </p:sp>
      <p:sp>
        <p:nvSpPr>
          <p:cNvPr id="6" name="Text 2"/>
          <p:cNvSpPr txBox="1"/>
          <p:nvPr/>
        </p:nvSpPr>
        <p:spPr>
          <a:xfrm>
            <a:off x="4246778" y="566928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抱っこ紐 ＝ 抱っことおんぶ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8127797" y="566928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床の時間 ＝ 体の動き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15_映える遊びと育つ遊び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65760" y="32004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映える育脳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6187288" y="32004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育つ遊び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1737360" y="5897880"/>
            <a:ext cx="868680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映える育脳では、本当に目指したいところに届かない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大根の遊び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B79C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1097280" y="31089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A6270"/>
                </a:solidFill>
              </a:rPr>
              <a:t>撮影素材を入れる位置：早惠子先生の実演（撮影当日に撮る）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17_どう通ったか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8138160" cy="1371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できたかではなく、どう通ったか</a:t>
            </a:r>
            <a:endParaRPr lang="en-US" sz="4000" dirty="0"/>
          </a:p>
          <a:p>
            <a:pPr indent="0" marL="0">
              <a:buNone/>
            </a:pPr>
            <a:r>
              <a:rPr lang="en-US" sz="22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左右の手と足を、両方しっかり使えているか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18_家での一場面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606552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働くママは、一場面から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566928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朝の着替え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4246778" y="566928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夜のお風呂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8127797" y="566928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休日のひととき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19_サーブ・アンド・リターン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6583680" cy="1371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サーブ・アンド・リターン</a:t>
            </a:r>
            <a:endParaRPr lang="en-US" sz="4000" dirty="0"/>
          </a:p>
          <a:p>
            <a:pPr indent="0" marL="0">
              <a:buNone/>
            </a:pPr>
            <a:r>
              <a:rPr lang="en-US" sz="22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赤ちゃんが出したものを、受けて返す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6766560" y="53949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「これ見てるの？　車だね」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64739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ハーバード大学 Center on the Developing Child「Serve and Return」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家でのやりとりの大きさ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4歳半までの育ちには、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保育園での経験よりも、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家庭でのやりとりのほうが強く関わっていた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663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270"/>
                </a:solidFill>
              </a:rPr>
              <a:t>保育園が悪い、という話ではありません。お家での応え方が、それだけ大きいということ。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出典：米国国立小児保健発達研究所（NICHD）2006年10月3日の発表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21_夜中の検索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813816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夜中の検索に、疲れていませんか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「検索して不安になる時間がなくなり、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1人目よりも自分自身に余裕を感じられました」　講座を修了したママ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22_先回り3つ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65760" y="32004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先回りしすぎ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4246778" y="32004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整えすぎ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8127797" y="32004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やってあげすぎ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8978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どれも、気が利くママの行動。でも、子どもが試す経験を先に終わらせてしまう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23_支柱のたとえ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5495544" cy="1371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親は、子どもの支柱</a:t>
            </a:r>
            <a:endParaRPr lang="en-US" sz="4000" dirty="0"/>
          </a:p>
          <a:p>
            <a:pPr indent="0" marL="0">
              <a:buNone/>
            </a:pPr>
            <a:r>
              <a:rPr lang="en-US" sz="22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溺愛ママから、パーフェクト育脳ママへ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倒れないように固定する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6187288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自分で立とうとする力を支える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早く気づけば、変わる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000" dirty="0">
                <a:solidFill>
                  <a:srgbClr val="1B2A4A"/>
                </a:solidFill>
              </a:rPr>
              <a:t>5か月の男の子：左足が伸びっぱなし → 2週間で、両足で床を蹴れるように</a:t>
            </a:r>
            <a:endParaRPr lang="en-US" sz="3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000" dirty="0">
                <a:solidFill>
                  <a:srgbClr val="1B2A4A"/>
                </a:solidFill>
              </a:rPr>
              <a:t>2歳の男の子：「じっとしていられない」→ パズル　10 → 20 → 50 → 100ピース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早惠子先生のご相談事例（個人差があります）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早くできる ＝ 育っている、ではない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生後5か月によく動き、自分から探っていた赤ちゃんほど、14歳の学力が高い傾向（374人を14年追跡）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歩き始めの早さと、その後の知能は関係がなかった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出典：Bornstein ほか（2013）Psychological Science／Jenni ほか（2013）Acta Paediatrica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上のお子さんで、気づくこと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9164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飲み込むのが少し苦手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立つと少し内股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反り気味で、かんしゃく・寝つきにくさ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姿勢がすぐ崩れて、集中が続かない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828800"/>
            <a:ext cx="4846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79C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「上の子にも役に立つことばかりでした」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「娘も、しんどかっただろうなと思います」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講座を修了したママたち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今、企業がいちばん大事だと考えている力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1B2A4A"/>
                </a:solidFill>
              </a:rPr>
              <a:t>1位　考えて分析する力</a:t>
            </a:r>
            <a:endParaRPr lang="en-US" sz="3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1B2A4A"/>
                </a:solidFill>
              </a:rPr>
              <a:t>2位　うまくいかなくても立て直す柔軟さ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62828"/>
                </a:solidFill>
              </a:rPr>
              <a:t>その最初の練習が、床の上でじたばたして、自分で寝返りを覚えること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出典：World Economic Forum「The Future of Jobs Report 2025」（1,000社超の調査）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28_12の感覚スイッチ一覧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502920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12の感覚スイッチ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498348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体の動き</a:t>
            </a:r>
            <a:endParaRPr lang="en-US" sz="1700" dirty="0"/>
          </a:p>
        </p:txBody>
      </p:sp>
      <p:sp>
        <p:nvSpPr>
          <p:cNvPr id="6" name="Text 2"/>
          <p:cNvSpPr txBox="1"/>
          <p:nvPr/>
        </p:nvSpPr>
        <p:spPr>
          <a:xfrm>
            <a:off x="2286000" y="498348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触覚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4206240" y="498348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呼吸と口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126480" y="498348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聞くこと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498348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見ること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9966960" y="498348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傾き・力加減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573328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286000" y="573328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573328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573328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抱っことおんぶ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046720" y="573328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人とのやりとり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966960" y="5733288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睡眠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29_成長ロードマップ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5210556" cy="1371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成長ロードマップ</a:t>
            </a:r>
            <a:endParaRPr lang="en-US" sz="4000" dirty="0"/>
          </a:p>
          <a:p>
            <a:pPr indent="0" marL="0">
              <a:buNone/>
            </a:pPr>
            <a:r>
              <a:rPr lang="en-US" sz="22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12の感覚スイッチ × 月齢の地図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5669280"/>
            <a:ext cx="56235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避けたいこと ＝ スイッチを止めるお世話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6172200" y="566928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やるとさらに育つ ＝ スイッチを入れる関わり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地図の1マスを見てみる</a:t>
            </a:r>
            <a:endParaRPr lang="en-US" sz="4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292608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避けたい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見る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足す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生後4〜6か月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体の動き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バウンサーやベビーチェアで長く過ごす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うつ伏せで両手で体を支え、首を持ち上げていられるか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床でのうつ伏せ遊び。目の前に好きなおもちゃ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1歳前後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呼吸と口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飲む練習をストローから始める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唇でコップのふちをとらえて、少しずつ飲めているか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B2A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こぼしてもいい場面で、コップやマグから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31_見ているのに見えていない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7101840" cy="8686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見ているのに、見えていない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寝返りを「した」で終わる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6187288" y="5669280"/>
            <a:ext cx="563864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左右・手足の使い方まで見る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32_OSとアプリ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4925568" cy="1371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ママのOS</a:t>
            </a:r>
            <a:endParaRPr lang="en-US" sz="4000" dirty="0"/>
          </a:p>
          <a:p>
            <a:pPr indent="0" marL="0">
              <a:buNone/>
            </a:pPr>
            <a:r>
              <a:rPr lang="en-US" sz="22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やり方の手前にある、ママの考え方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1280160" y="5760720"/>
            <a:ext cx="96012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地図と見る目 ＝ アプリ　　ママの考え方 ＝ OS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33_時間軸のO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320040"/>
            <a:ext cx="8656320" cy="1371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30年後から、今日の一手を決める</a:t>
            </a:r>
            <a:endParaRPr lang="en-US" sz="4000" dirty="0"/>
          </a:p>
          <a:p>
            <a:pPr indent="0" marL="0">
              <a:buNone/>
            </a:pPr>
            <a:r>
              <a:rPr lang="en-US" sz="22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目の前の「できない」ではなく、将来から逆算する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anakayuichi/projects/theleadpromotion/.claude/worktrees/home-inter-method-day1-review-a30b52/21_プロジェクト一覧/ピグマリオン恵美子（グローバルキッズ）/プロモ案件/IQ200ベビー/新3日間ライブ_20261009/差し込み画像_v11/34_引く見る足す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65760" y="32004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引く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4246778" y="32004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見る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8127797" y="320040"/>
            <a:ext cx="3698138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足す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8978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8000"/>
            </a:srgbClr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バウンサーを一つ引く → どちらの足で蹴るかを見る → 左足の遊びを足す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パーフェクト育脳は、何が違うのか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37360"/>
            <a:ext cx="4754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79C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5A6270"/>
                </a:solidFill>
              </a:rPr>
              <a:t>よくある育脳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5A6270"/>
                </a:solidFill>
              </a:rPr>
              <a:t>映える遊びをする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5A6270"/>
                </a:solidFill>
              </a:rPr>
              <a:t>良いものを足していく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5A6270"/>
                </a:solidFill>
              </a:rPr>
              <a:t>「あれも、これも」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737360"/>
            <a:ext cx="5029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96282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パーフェクト育脳</a:t>
            </a:r>
            <a:endParaRPr lang="en-US" sz="3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2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引く</a:t>
            </a:r>
            <a:endParaRPr lang="en-US" sz="3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2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足す</a:t>
            </a:r>
            <a:endParaRPr lang="en-US" sz="3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2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見て合わせる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</a:rPr>
              <a:t>この三つを、3歳から先まで見てきた2人で、逆算して組み立てる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ベビママ発達診断（入口）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91640"/>
            <a:ext cx="10698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B2A4A"/>
                </a:solidFill>
              </a:rPr>
              <a:t>①　床の上で自由に手足を動かす時間が、毎日ある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B2A4A"/>
                </a:solidFill>
              </a:rPr>
              <a:t>②　バウンサーやベビーチェアの時間が、1回1時間を超えることがある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B2A4A"/>
                </a:solidFill>
              </a:rPr>
              <a:t>③　抱っこ紐の中の時間が、床の上の時間より長い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B2A4A"/>
                </a:solidFill>
              </a:rPr>
              <a:t>④　飲む練習として、ストローを使わせている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B2A4A"/>
                </a:solidFill>
              </a:rPr>
              <a:t>⑤　泣いたり困ったりする前に、先回りして助けることが多い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B2A4A"/>
                </a:solidFill>
              </a:rPr>
              <a:t>⑥　検索やSNSの答えを、わが子の様子と照らさずに取り入れることが多い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270"/>
                </a:solidFill>
              </a:rPr>
              <a:t>お子さんの発達を判定するものではなく、ママの毎日の関わり方を見るチェックです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「はい」がついたら、明日から一つだけ引く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②③　道具の時間を一回だけ短くして、床に下ろす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④　お家の中だけ、コップにしてみる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⑤　泣きそうになっても、3秒だけ待つ</a:t>
            </a:r>
            <a:endParaRPr lang="en-US" sz="2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800" dirty="0">
                <a:solidFill>
                  <a:srgbClr val="1B2A4A"/>
                </a:solidFill>
              </a:rPr>
              <a:t>⑥　調べる前に、わが子を1分だけ見る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62828"/>
                </a:solidFill>
              </a:rPr>
              <a:t>引いたときに見えたものが、次に足すことを教えてくれる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今日、三つだけ持ち帰ってください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1B2A4A"/>
                </a:solidFill>
              </a:rPr>
              <a:t>脳は3階建て。体の1階は、0〜2歳がとても重要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1B2A4A"/>
                </a:solidFill>
              </a:rPr>
              <a:t>映える育脳では届かない。地味でも、着実に育つ遊びを</a:t>
            </a:r>
            <a:endParaRPr lang="en-US" sz="2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800" dirty="0">
                <a:solidFill>
                  <a:srgbClr val="1B2A4A"/>
                </a:solidFill>
              </a:rPr>
              <a:t>パーフェクト育脳：地図を知る・わが子を見る・ママのOSを入れ替える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溺愛ママ、お世話好きママから、パーフェクト育脳ママへ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IQ200ベビー親子講座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822960" y="1737360"/>
            <a:ext cx="493776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9B79C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914400" y="31089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270"/>
                </a:solidFill>
              </a:rPr>
              <a:t>講座の写真を入れる位置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5A6270"/>
                </a:solidFill>
              </a:rPr>
              <a:t>（ブラッシュアップ会・講義の画面）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3736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79C"/>
            </a:solidFill>
          </a:ln>
        </p:spPr>
        <p:txBody>
          <a:bodyPr wrap="square" lIns="3810" tIns="3810" rIns="3810" bIns="381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修了したママの声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「子どもと向き合うことが心から楽しくなりました」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「苦痛を感じる時間が、楽しい時間に変わりました」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「子育ての迷いが格段に減りました」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ベビママ発達診断＋個別説明会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37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早惠子先生と一緒に、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次にどのスイッチを入れるかを見ていきます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3749040"/>
            <a:ext cx="8503920" cy="1463040"/>
          </a:xfrm>
          <a:prstGeom prst="roundRect">
            <a:avLst>
              <a:gd name="adj" fmla="val 937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この動画の下のページを、今すぐ開いてください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お申し込みは、ページのいちばん下から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2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パーフェクト育脳">
  <a:themeElements>
    <a:clrScheme name="パーフェクト育脳">
      <a:dk1>
        <a:srgbClr val="1B2A4A"/>
      </a:dk1>
      <a:lt1>
        <a:srgbClr val="FFFFFF"/>
      </a:lt1>
      <a:dk2>
        <a:srgbClr val="5A6270"/>
      </a:dk2>
      <a:lt2>
        <a:srgbClr val="FAF7F0"/>
      </a:lt2>
      <a:accent1>
        <a:srgbClr val="1B2A4A"/>
      </a:accent1>
      <a:accent2>
        <a:srgbClr val="962828"/>
      </a:accent2>
      <a:accent3>
        <a:srgbClr val="C9B79C"/>
      </a:accent3>
      <a:accent4>
        <a:srgbClr val="8A9A7B"/>
      </a:accent4>
      <a:accent5>
        <a:srgbClr val="6B7FA3"/>
      </a:accent5>
      <a:accent6>
        <a:srgbClr val="D9D2C3"/>
      </a:accent6>
      <a:hlink>
        <a:srgbClr val="1B2A4A"/>
      </a:hlink>
      <a:folHlink>
        <a:srgbClr val="5A6270"/>
      </a:folHlink>
    </a:clrScheme>
    <a:fontScheme name="パーフェクト育脳">
      <a:majorFont>
        <a:latin typeface="Yu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Global Kids Mom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パーフェクト育脳 ベビー60分動画 差し込みスライド</dc:title>
  <dc:subject>PptxGenJS Presentation</dc:subject>
  <dc:creator>PptxGenJS</dc:creator>
  <cp:lastModifiedBy>PptxGenJS</cp:lastModifiedBy>
  <cp:revision>1</cp:revision>
  <dcterms:created xsi:type="dcterms:W3CDTF">2026-10-31T07:21:34Z</dcterms:created>
  <dcterms:modified xsi:type="dcterms:W3CDTF">2026-10-31T07:21:34Z</dcterms:modified>
</cp:coreProperties>
</file>